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75" r:id="rId3"/>
    <p:sldId id="257" r:id="rId4"/>
    <p:sldId id="273" r:id="rId5"/>
    <p:sldId id="258" r:id="rId6"/>
    <p:sldId id="274" r:id="rId7"/>
    <p:sldId id="259" r:id="rId8"/>
    <p:sldId id="260" r:id="rId9"/>
    <p:sldId id="262" r:id="rId10"/>
    <p:sldId id="261" r:id="rId11"/>
    <p:sldId id="263" r:id="rId12"/>
    <p:sldId id="265" r:id="rId13"/>
    <p:sldId id="266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908" autoAdjust="0"/>
  </p:normalViewPr>
  <p:slideViewPr>
    <p:cSldViewPr snapToGrid="0" snapToObjects="1">
      <p:cViewPr>
        <p:scale>
          <a:sx n="78" d="100"/>
          <a:sy n="78" d="100"/>
        </p:scale>
        <p:origin x="94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96775E-CBA2-4690-866D-75263C93794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A7D600-A21E-44BE-A7F8-01AF54123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381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A7D600-A21E-44BE-A7F8-01AF54123EE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360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73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86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9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38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305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251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06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67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013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93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43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8817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89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86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9035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0075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86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5405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9277" y="473529"/>
            <a:ext cx="8121869" cy="2411411"/>
          </a:xfrm>
        </p:spPr>
        <p:txBody>
          <a:bodyPr>
            <a:normAutofit fontScale="90000"/>
          </a:bodyPr>
          <a:lstStyle/>
          <a:p>
            <a:r>
              <a:rPr b="1" dirty="0"/>
              <a:t>Vertical Variation of </a:t>
            </a:r>
            <a:r>
              <a:rPr lang="en-US" b="1" dirty="0"/>
              <a:t>Selected </a:t>
            </a:r>
            <a:r>
              <a:rPr b="1" dirty="0"/>
              <a:t>Secondary Radio-Climatic Parameters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325063"/>
            <a:ext cx="6400800" cy="2493579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PRESENTED BY</a:t>
            </a:r>
          </a:p>
          <a:p>
            <a:r>
              <a:rPr lang="en-US" b="1" dirty="0">
                <a:solidFill>
                  <a:schemeClr val="tx1"/>
                </a:solidFill>
              </a:rPr>
              <a:t>OLASUPO MAYOWA EBENEZER</a:t>
            </a:r>
          </a:p>
          <a:p>
            <a:r>
              <a:rPr lang="en-US" b="1" dirty="0">
                <a:solidFill>
                  <a:schemeClr val="tx1"/>
                </a:solidFill>
              </a:rPr>
              <a:t>PHY/20/7261</a:t>
            </a:r>
            <a:endParaRPr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6DC83-7A30-53BC-65B8-CBAFAA2E2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46" y="67734"/>
            <a:ext cx="7765321" cy="888999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66FD9-93D5-06E5-EBF8-B6B4CAB3F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1037730"/>
            <a:ext cx="7765322" cy="369513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INTRODUCTION</a:t>
            </a:r>
          </a:p>
          <a:p>
            <a:pPr marL="0" indent="0">
              <a:buNone/>
            </a:pPr>
            <a:r>
              <a:rPr lang="en-US" dirty="0"/>
              <a:t>OBJECTIVE</a:t>
            </a:r>
          </a:p>
          <a:p>
            <a:pPr marL="0" indent="0">
              <a:buNone/>
            </a:pPr>
            <a:r>
              <a:rPr lang="en-US" dirty="0"/>
              <a:t>LITERATURE REVIEW</a:t>
            </a:r>
          </a:p>
          <a:p>
            <a:pPr marL="0" indent="0">
              <a:buNone/>
            </a:pPr>
            <a:r>
              <a:rPr lang="en-US" dirty="0"/>
              <a:t>METHODOLOGY</a:t>
            </a:r>
          </a:p>
          <a:p>
            <a:pPr marL="0" indent="0">
              <a:buNone/>
            </a:pPr>
            <a:r>
              <a:rPr lang="en-US" dirty="0"/>
              <a:t>RESULT AND DISCUSSION</a:t>
            </a:r>
          </a:p>
          <a:p>
            <a:pPr marL="0" indent="0">
              <a:buNone/>
            </a:pPr>
            <a:r>
              <a:rPr lang="en-US" dirty="0"/>
              <a:t>CONCLUSION</a:t>
            </a:r>
          </a:p>
          <a:p>
            <a:pPr marL="0" indent="0">
              <a:buNone/>
            </a:pPr>
            <a:r>
              <a:rPr lang="en-US" dirty="0"/>
              <a:t>RECOMMENDATION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112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390"/>
            <a:ext cx="8229600" cy="563671"/>
          </a:xfrm>
        </p:spPr>
        <p:txBody>
          <a:bodyPr>
            <a:normAutofit/>
          </a:bodyPr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51413"/>
            <a:ext cx="8229600" cy="219619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4000" dirty="0"/>
              <a:t>This study Collected primary radio climatic </a:t>
            </a:r>
            <a:r>
              <a:rPr lang="en-US" sz="4000" dirty="0" err="1"/>
              <a:t>datas</a:t>
            </a:r>
            <a:r>
              <a:rPr lang="en-US" sz="4000" dirty="0"/>
              <a:t> using integrated UAVs to investigates the vertical variation of secondary radio-climatic parameters, such as radio refractivity, refractivity gradient, and geo-climatic factor and their impact on electromagnetic wave propagation</a:t>
            </a:r>
            <a:r>
              <a:rPr 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73A33A-63D1-E9CD-7104-A5A180B64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111" y="586061"/>
            <a:ext cx="1566042" cy="25653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609D44-CAB6-666C-8CC1-0CCA99974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6061"/>
            <a:ext cx="3668111" cy="25653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21CECA-C74C-26D0-9248-8F9478990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153" y="586061"/>
            <a:ext cx="3909847" cy="25653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E79B47-1879-445D-6F88-21F9B8DBE4A8}"/>
              </a:ext>
            </a:extLst>
          </p:cNvPr>
          <p:cNvSpPr txBox="1"/>
          <p:nvPr/>
        </p:nvSpPr>
        <p:spPr>
          <a:xfrm>
            <a:off x="530679" y="1126672"/>
            <a:ext cx="770708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Radio refractivity is a factor used in determining how radio waves propagate through the troposphere and lower atmosphere.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The refractivity gradient is a key factor in determining how radio waves bend in the atmosphere. It measures how fast refractivity (N) changes with height.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The geoclimatic factor is used in radio wave propagation studies, </a:t>
            </a:r>
          </a:p>
          <a:p>
            <a:r>
              <a:rPr lang="en-US" sz="2000" dirty="0"/>
              <a:t>for estimating Signal Fading and Multipath Propagation 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931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Objectives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sz="2400" dirty="0"/>
              <a:t>Examine vertical variations of secondary parameters.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 </a:t>
            </a:r>
            <a:r>
              <a:rPr sz="2400" dirty="0"/>
              <a:t>Analyze synoptic hour variations.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 </a:t>
            </a:r>
            <a:r>
              <a:rPr sz="2400" dirty="0"/>
              <a:t>Assess implications on communication systems.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BCAB768-DE95-888B-2593-1BBB2EBE6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279324"/>
              </p:ext>
            </p:extLst>
          </p:nvPr>
        </p:nvGraphicFramePr>
        <p:xfrm>
          <a:off x="424543" y="1397000"/>
          <a:ext cx="8237764" cy="475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7815">
                  <a:extLst>
                    <a:ext uri="{9D8B030D-6E8A-4147-A177-3AD203B41FA5}">
                      <a16:colId xmlns:a16="http://schemas.microsoft.com/office/drawing/2014/main" val="1389436746"/>
                    </a:ext>
                  </a:extLst>
                </a:gridCol>
                <a:gridCol w="2831199">
                  <a:extLst>
                    <a:ext uri="{9D8B030D-6E8A-4147-A177-3AD203B41FA5}">
                      <a16:colId xmlns:a16="http://schemas.microsoft.com/office/drawing/2014/main" val="1709932481"/>
                    </a:ext>
                  </a:extLst>
                </a:gridCol>
                <a:gridCol w="3308750">
                  <a:extLst>
                    <a:ext uri="{9D8B030D-6E8A-4147-A177-3AD203B41FA5}">
                      <a16:colId xmlns:a16="http://schemas.microsoft.com/office/drawing/2014/main" val="17024276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>
                            <a:outerShdw blurRad="50800" dist="38100" dir="18900000" algn="bl">
                              <a:srgbClr val="000000">
                                <a:alpha val="4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Parameters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>
                            <a:outerShdw blurRad="50800" dist="38100" dir="18900000" algn="bl">
                              <a:srgbClr val="000000">
                                <a:alpha val="4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Author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>
                            <a:outerShdw blurRad="50800" dist="38100" dir="18900000" algn="bl">
                              <a:srgbClr val="000000">
                                <a:alpha val="40000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Review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966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 refractivity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Falodun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Ajewole (2006)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Reported diurnal variations over Akure, Nigeria, with refractivity minima around mid-morning and maxima during late evening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716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Refractivity gradient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Fashade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et al. (2023),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ITU-R P.453-13. ( 2019)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Reported that refractivity decreases gradually with height, resulting in signals bending gently towards the Earth and extending the radio horizon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355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Geo-climatic factor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Adediji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et al. (2011)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Reported that diurnal heating significantly modulates geo-climatic factors in tropical regions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47237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F947B01-6EB3-AFCB-C6B8-82D7DEE8E785}"/>
              </a:ext>
            </a:extLst>
          </p:cNvPr>
          <p:cNvSpPr txBox="1"/>
          <p:nvPr/>
        </p:nvSpPr>
        <p:spPr>
          <a:xfrm>
            <a:off x="595993" y="250860"/>
            <a:ext cx="7568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701268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339" y="137565"/>
            <a:ext cx="7765321" cy="736375"/>
          </a:xfrm>
        </p:spPr>
        <p:txBody>
          <a:bodyPr/>
          <a:lstStyle/>
          <a:p>
            <a:r>
              <a:rPr b="1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358" y="984871"/>
            <a:ext cx="7765322" cy="3695136"/>
          </a:xfrm>
        </p:spPr>
        <p:txBody>
          <a:bodyPr>
            <a:normAutofit/>
          </a:bodyPr>
          <a:lstStyle/>
          <a:p>
            <a:r>
              <a:rPr dirty="0"/>
              <a:t>UAVs with sensors (temperature, pressure, humidity).</a:t>
            </a:r>
          </a:p>
          <a:p>
            <a:r>
              <a:rPr lang="en-US" dirty="0"/>
              <a:t>Data was computed with python to derive </a:t>
            </a:r>
            <a:r>
              <a:rPr lang="en-US" dirty="0" err="1"/>
              <a:t>secondaryradio</a:t>
            </a:r>
            <a:r>
              <a:rPr lang="en-US" dirty="0"/>
              <a:t>-climatic  parameters and analysis</a:t>
            </a:r>
            <a:r>
              <a:rPr dirty="0"/>
              <a:t>.</a:t>
            </a:r>
          </a:p>
          <a:p>
            <a:r>
              <a:rPr lang="en-US" b="1" dirty="0"/>
              <a:t>Time Series Analysis</a:t>
            </a:r>
            <a:r>
              <a:rPr dirty="0"/>
              <a:t> (6am, 9am, 12pm, 3pm, 6pm, 9pm).</a:t>
            </a:r>
          </a:p>
          <a:p>
            <a:r>
              <a:rPr lang="en-US" b="1" dirty="0"/>
              <a:t>Vertical Profile Analysis</a:t>
            </a:r>
          </a:p>
          <a:p>
            <a:r>
              <a:rPr lang="en-US" b="1" dirty="0"/>
              <a:t>Trend Analysis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737544-3883-8010-9058-B264D0C92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27532"/>
            <a:ext cx="4962546" cy="30304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8C4681-D7E9-09A6-B8BF-52BD553C6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508" y="3827533"/>
            <a:ext cx="4351492" cy="30304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26" y="105195"/>
            <a:ext cx="9033653" cy="84543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Vertical Variation of R</a:t>
            </a:r>
            <a:r>
              <a:rPr b="1" dirty="0"/>
              <a:t>adio</a:t>
            </a:r>
            <a:r>
              <a:rPr lang="en-US" b="1" dirty="0"/>
              <a:t>-</a:t>
            </a:r>
            <a:r>
              <a:rPr b="1" dirty="0"/>
              <a:t>Refractivity (N)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B00748C-24E5-CF4F-F341-ADB0E98330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723" y="950629"/>
            <a:ext cx="6508549" cy="27064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8DA0D0-1134-4F41-C53A-85F0DBD66262}"/>
              </a:ext>
            </a:extLst>
          </p:cNvPr>
          <p:cNvSpPr txBox="1"/>
          <p:nvPr/>
        </p:nvSpPr>
        <p:spPr>
          <a:xfrm>
            <a:off x="953796" y="3799490"/>
            <a:ext cx="72863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-The lower troposphere, has highest refractivity values because it contains a higher concentration of water vapor</a:t>
            </a:r>
          </a:p>
          <a:p>
            <a:r>
              <a:rPr lang="en-US" dirty="0"/>
              <a:t>-Radio-refractivity reduces with height</a:t>
            </a:r>
          </a:p>
          <a:p>
            <a:r>
              <a:rPr lang="en-US" dirty="0"/>
              <a:t>This is the normal condition in the atmosphere which causes radio waves to bend slightly toward the Earth, extending range. </a:t>
            </a:r>
          </a:p>
          <a:p>
            <a:r>
              <a:rPr lang="en-US" dirty="0"/>
              <a:t>- 350 to 360 indicate super refraction which bends signal towards earth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0631"/>
            <a:ext cx="9144000" cy="58217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Diurnal and Daily Variation of Refractivity</a:t>
            </a:r>
            <a:endParaRPr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2C11454-CA34-D757-AC6E-2908274172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4814" y="909977"/>
            <a:ext cx="6495196" cy="2674144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FABEA4-5F5E-B7EE-53C5-52786CC732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815" y="3832908"/>
            <a:ext cx="6495196" cy="26741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69450"/>
          </a:xfrm>
        </p:spPr>
        <p:txBody>
          <a:bodyPr>
            <a:normAutofit fontScale="90000"/>
          </a:bodyPr>
          <a:lstStyle/>
          <a:p>
            <a:r>
              <a:rPr b="1" dirty="0"/>
              <a:t>Refractivity Gradient (</a:t>
            </a:r>
            <a:r>
              <a:rPr b="1" dirty="0" err="1"/>
              <a:t>dN</a:t>
            </a:r>
            <a:r>
              <a:rPr b="1" dirty="0"/>
              <a:t>/dh)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54424B-EB82-C9B8-ADF4-6D1B8E637C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442" y="535208"/>
            <a:ext cx="6419192" cy="20568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22D723-B3C6-D571-D716-E432A8AD6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442" y="2802026"/>
            <a:ext cx="6419192" cy="22348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BEE1D2-E9BA-336A-4436-7294D0A10515}"/>
              </a:ext>
            </a:extLst>
          </p:cNvPr>
          <p:cNvSpPr txBox="1"/>
          <p:nvPr/>
        </p:nvSpPr>
        <p:spPr>
          <a:xfrm>
            <a:off x="1624224" y="5198843"/>
            <a:ext cx="58456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Gradient is ranges from -58 to - 76 indicate super refraction which makes  waves to bends more and extend coverage</a:t>
            </a:r>
          </a:p>
          <a:p>
            <a:r>
              <a:rPr lang="en-US" dirty="0"/>
              <a:t>- Surface cooling &amp; solar heating contribution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525"/>
            <a:ext cx="8229600" cy="412795"/>
          </a:xfrm>
        </p:spPr>
        <p:txBody>
          <a:bodyPr>
            <a:normAutofit fontScale="90000"/>
          </a:bodyPr>
          <a:lstStyle/>
          <a:p>
            <a:r>
              <a:rPr b="1" dirty="0"/>
              <a:t>Geo-Climatic Factor (ΔN)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324" y="551239"/>
            <a:ext cx="8229600" cy="1399244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DFDA89-8A18-635E-4DF3-7FCA7E8E21CB}"/>
              </a:ext>
            </a:extLst>
          </p:cNvPr>
          <p:cNvSpPr txBox="1"/>
          <p:nvPr/>
        </p:nvSpPr>
        <p:spPr>
          <a:xfrm>
            <a:off x="735724" y="3199358"/>
            <a:ext cx="685274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higher values concentrated near the surface (0–25 m) and tapering off beyond 50 m. 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Geo-climatic factor ranges 0.00010 to – 0.00015 indicates moderate multipath fading.  Occur during early and late hours 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Geo-climatic factor ranges 0.00020 to – 0.00037 indicates severe multipath fading.  Occur during midday</a:t>
            </a:r>
          </a:p>
          <a:p>
            <a:pPr marL="285750" indent="-285750">
              <a:buFontTx/>
              <a:buChar char="-"/>
            </a:pPr>
            <a:r>
              <a:rPr lang="en-US" dirty="0"/>
              <a:t>Crucial for spectrum allocation &amp; reliability studies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11292B-1157-A418-8E3E-69DDE1DF3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37" y="551239"/>
            <a:ext cx="7010399" cy="24436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8231"/>
          </a:xfrm>
        </p:spPr>
        <p:txBody>
          <a:bodyPr>
            <a:normAutofit/>
          </a:bodyPr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606" y="738351"/>
            <a:ext cx="8229600" cy="4833109"/>
          </a:xfrm>
        </p:spPr>
        <p:txBody>
          <a:bodyPr>
            <a:normAutofit/>
          </a:bodyPr>
          <a:lstStyle/>
          <a:p>
            <a:r>
              <a:rPr lang="en-US" dirty="0"/>
              <a:t>As Refractivity explains general propagation,</a:t>
            </a:r>
          </a:p>
          <a:p>
            <a:r>
              <a:rPr lang="en-US" dirty="0"/>
              <a:t>Gradient: explains abnormal propagation. And </a:t>
            </a:r>
            <a:r>
              <a:rPr lang="el-GR" dirty="0"/>
              <a:t>Δ</a:t>
            </a:r>
            <a:r>
              <a:rPr lang="en-US" dirty="0"/>
              <a:t>N: indicates long-term reliability.</a:t>
            </a:r>
          </a:p>
          <a:p>
            <a:pPr marL="0" indent="0">
              <a:buNone/>
            </a:pPr>
            <a:r>
              <a:rPr lang="en-US" dirty="0"/>
              <a:t>This proves that s</a:t>
            </a:r>
            <a:r>
              <a:rPr dirty="0"/>
              <a:t>econdary radio-climatic parameters strongly affect EM propagation.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UAV profiling captures fine-scale vertical variations to improve accuracy of refractivity modeling.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013"/>
            <a:ext cx="8229600" cy="702824"/>
          </a:xfrm>
        </p:spPr>
        <p:txBody>
          <a:bodyPr>
            <a:normAutofit/>
          </a:bodyPr>
          <a:lstStyle/>
          <a:p>
            <a:r>
              <a:rPr b="1"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5298577"/>
          </a:xfrm>
        </p:spPr>
        <p:txBody>
          <a:bodyPr>
            <a:normAutofit/>
          </a:bodyPr>
          <a:lstStyle/>
          <a:p>
            <a:r>
              <a:rPr lang="en-US" dirty="0"/>
              <a:t>Vertical profiling essential; only surface and stationed data is insufficient</a:t>
            </a:r>
          </a:p>
          <a:p>
            <a:endParaRPr lang="en-US" dirty="0"/>
          </a:p>
          <a:p>
            <a:r>
              <a:rPr lang="en-US" dirty="0"/>
              <a:t>Future studies should extend measurements beyond 75 m, ideally up to several hundred meters, to fully capture the vertical distribution </a:t>
            </a:r>
          </a:p>
          <a:p>
            <a:endParaRPr lang="en-US" dirty="0"/>
          </a:p>
          <a:p>
            <a:r>
              <a:rPr dirty="0"/>
              <a:t>Extend study to seasonal variation for</a:t>
            </a:r>
            <a:r>
              <a:rPr lang="en-US" dirty="0"/>
              <a:t> more accurate analysis</a:t>
            </a:r>
            <a:r>
              <a:rPr dirty="0"/>
              <a:t>.</a:t>
            </a:r>
            <a:endParaRPr lang="en-US" dirty="0"/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5A540A-AF52-1DC4-7932-4FEA03FC27AE}"/>
              </a:ext>
            </a:extLst>
          </p:cNvPr>
          <p:cNvSpPr txBox="1"/>
          <p:nvPr/>
        </p:nvSpPr>
        <p:spPr>
          <a:xfrm>
            <a:off x="557142" y="2333296"/>
            <a:ext cx="76830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THANK YOU </a:t>
            </a:r>
          </a:p>
          <a:p>
            <a:pPr algn="ctr"/>
            <a:r>
              <a:rPr lang="en-US" sz="4800" b="1" dirty="0"/>
              <a:t>FOR LISTENING</a:t>
            </a:r>
          </a:p>
        </p:txBody>
      </p:sp>
    </p:spTree>
    <p:extLst>
      <p:ext uri="{BB962C8B-B14F-4D97-AF65-F5344CB8AC3E}">
        <p14:creationId xmlns:p14="http://schemas.microsoft.com/office/powerpoint/2010/main" val="11385147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2108</TotalTime>
  <Words>557</Words>
  <Application>Microsoft Office PowerPoint</Application>
  <PresentationFormat>On-screen Show (4:3)</PresentationFormat>
  <Paragraphs>88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Bookman Old Style</vt:lpstr>
      <vt:lpstr>Calibri</vt:lpstr>
      <vt:lpstr>Rockwell</vt:lpstr>
      <vt:lpstr>Wingdings</vt:lpstr>
      <vt:lpstr>Damask</vt:lpstr>
      <vt:lpstr>Vertical Variation of Selected Secondary Radio-Climatic Parameters</vt:lpstr>
      <vt:lpstr>OUTLINE</vt:lpstr>
      <vt:lpstr>Introduction</vt:lpstr>
      <vt:lpstr>PowerPoint Presentation</vt:lpstr>
      <vt:lpstr>Objectives of the Study</vt:lpstr>
      <vt:lpstr>PowerPoint Presentation</vt:lpstr>
      <vt:lpstr>Methodology</vt:lpstr>
      <vt:lpstr>Vertical Variation of Radio-Refractivity (N)</vt:lpstr>
      <vt:lpstr>Diurnal and Daily Variation of Refractivity</vt:lpstr>
      <vt:lpstr>Refractivity Gradient (dN/dh)</vt:lpstr>
      <vt:lpstr>Geo-Climatic Factor (ΔN)</vt:lpstr>
      <vt:lpstr>Conclusion</vt:lpstr>
      <vt:lpstr>Recommendations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bring joy</cp:lastModifiedBy>
  <cp:revision>35</cp:revision>
  <dcterms:created xsi:type="dcterms:W3CDTF">2013-01-27T09:14:16Z</dcterms:created>
  <dcterms:modified xsi:type="dcterms:W3CDTF">2025-10-04T21:59:57Z</dcterms:modified>
  <cp:category/>
</cp:coreProperties>
</file>